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3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79475" y="17889"/>
            <a:ext cx="12191695" cy="6858000"/>
          </a:xfrm>
          <a:prstGeom prst="rect">
            <a:avLst/>
          </a:prstGeom>
          <a:solidFill>
            <a:srgbClr val="EB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55480" y="-411480"/>
            <a:ext cx="3017520" cy="3017520"/>
          </a:xfrm>
          <a:prstGeom prst="ellipse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ASSIGNMENT GROUP · COMPUTER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1984"/>
            <a:ext cx="63093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 dirty="0" err="1">
                <a:solidFill>
                  <a:srgbClr val="121212"/>
                </a:solidFill>
                <a:latin typeface="Aptos Display"/>
              </a:rPr>
              <a:t>Haar</a:t>
            </a:r>
            <a:r>
              <a:rPr sz="3100" b="1" dirty="0">
                <a:solidFill>
                  <a:srgbClr val="121212"/>
                </a:solidFill>
                <a:latin typeface="Aptos Display"/>
              </a:rPr>
              <a:t> Cascade
</a:t>
            </a:r>
            <a:r>
              <a:rPr sz="3100" b="1" dirty="0" err="1">
                <a:solidFill>
                  <a:srgbClr val="121212"/>
                </a:solidFill>
                <a:latin typeface="Aptos Display"/>
              </a:rPr>
              <a:t>trong</a:t>
            </a:r>
            <a:r>
              <a:rPr sz="3100" b="1" dirty="0">
                <a:solidFill>
                  <a:srgbClr val="121212"/>
                </a:solidFill>
                <a:latin typeface="Aptos Display"/>
              </a:rPr>
              <a:t> </a:t>
            </a:r>
            <a:r>
              <a:rPr sz="3100" b="1" dirty="0" err="1">
                <a:solidFill>
                  <a:srgbClr val="121212"/>
                </a:solidFill>
                <a:latin typeface="Aptos Display"/>
              </a:rPr>
              <a:t>ứng</a:t>
            </a:r>
            <a:r>
              <a:rPr sz="3100" b="1" dirty="0">
                <a:solidFill>
                  <a:srgbClr val="121212"/>
                </a:solidFill>
                <a:latin typeface="Aptos Display"/>
              </a:rPr>
              <a:t> </a:t>
            </a:r>
            <a:r>
              <a:rPr sz="3100" b="1" dirty="0" err="1">
                <a:solidFill>
                  <a:srgbClr val="121212"/>
                </a:solidFill>
                <a:latin typeface="Aptos Display"/>
              </a:rPr>
              <a:t>dụng</a:t>
            </a:r>
            <a:r>
              <a:rPr sz="3100" b="1" dirty="0">
                <a:solidFill>
                  <a:srgbClr val="121212"/>
                </a:solidFill>
                <a:latin typeface="Aptos Display"/>
              </a:rPr>
              <a:t> </a:t>
            </a:r>
            <a:r>
              <a:rPr sz="3100" b="1" dirty="0" err="1">
                <a:solidFill>
                  <a:srgbClr val="121212"/>
                </a:solidFill>
                <a:latin typeface="Aptos Display"/>
              </a:rPr>
              <a:t>điểm</a:t>
            </a:r>
            <a:r>
              <a:rPr sz="3100" b="1" dirty="0">
                <a:solidFill>
                  <a:srgbClr val="121212"/>
                </a:solidFill>
                <a:latin typeface="Aptos Display"/>
              </a:rPr>
              <a:t> </a:t>
            </a:r>
            <a:r>
              <a:rPr sz="3100" b="1" dirty="0" err="1">
                <a:solidFill>
                  <a:srgbClr val="121212"/>
                </a:solidFill>
                <a:latin typeface="Aptos Display"/>
              </a:rPr>
              <a:t>danh</a:t>
            </a:r>
            <a:endParaRPr sz="3100" b="1" dirty="0">
              <a:solidFill>
                <a:srgbClr val="121212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2671187"/>
            <a:ext cx="54864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 err="1">
                <a:solidFill>
                  <a:srgbClr val="5D5A54"/>
                </a:solidFill>
                <a:latin typeface="Aptos"/>
              </a:rPr>
              <a:t>Trọng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tâm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: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cơ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chế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đặc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trưng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Haar</a:t>
            </a:r>
            <a:r>
              <a:rPr lang="en-US" sz="1600" b="0" dirty="0">
                <a:solidFill>
                  <a:srgbClr val="5D5A54"/>
                </a:solidFill>
                <a:latin typeface="Aptos"/>
              </a:rPr>
              <a:t> Cascade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, integral image, AdaBoost, cascade classifier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và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vị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trí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của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thuật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toán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trong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ứng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dụng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5893947"/>
            <a:ext cx="1013102" cy="3228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102" y="5924556"/>
            <a:ext cx="10972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0" dirty="0" err="1">
                <a:solidFill>
                  <a:srgbClr val="5D5A54"/>
                </a:solidFill>
                <a:latin typeface="Aptos"/>
              </a:rPr>
              <a:t>Nhóm</a:t>
            </a:r>
            <a:r>
              <a:rPr lang="en-US" sz="1100" b="0" dirty="0">
                <a:solidFill>
                  <a:srgbClr val="5D5A54"/>
                </a:solidFill>
                <a:latin typeface="Aptos"/>
              </a:rPr>
              <a:t> 7</a:t>
            </a:r>
            <a:endParaRPr sz="1100" b="0" dirty="0">
              <a:solidFill>
                <a:srgbClr val="5D5A5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89920" y="594360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5560" y="6181344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D5A54"/>
                </a:solidFill>
                <a:latin typeface="Aptos"/>
              </a:rPr>
              <a:t>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55480" y="-411480"/>
            <a:ext cx="3017520" cy="3017520"/>
          </a:xfrm>
          <a:prstGeom prst="ellipse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HAAR CASCADE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6035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Aptos Display"/>
              </a:rPr>
              <a:t>Bài toán mà Haar Cascade giải quyết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5760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D5A54"/>
                </a:solidFill>
                <a:latin typeface="Aptos"/>
              </a:rPr>
              <a:t>Bộ phân loại phải quyết định mỗi cửa sổ ảnh có chứa khuôn mặt hay không.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6032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5D5A54"/>
                </a:solidFill>
                <a:latin typeface="Aptos"/>
              </a:rPr>
              <a:t>Ảnh đầu vào thường được chuyển sang grayscale để giảm số kênh cần xử lý.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5D5A54"/>
                </a:solidFill>
                <a:latin typeface="Aptos"/>
              </a:rPr>
              <a:t>Thuật toán trượt một cửa sổ qua nhiều vị trí và nhiều tỉ lệ kích thước.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5D5A54"/>
                </a:solidFill>
                <a:latin typeface="Aptos"/>
              </a:rPr>
              <a:t>Tại từng cửa sổ, hệ thống tính tập feature Haar rồi phân loại mặt / không mặt.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5D5A54"/>
                </a:solidFill>
                <a:latin typeface="Aptos"/>
              </a:rPr>
              <a:t>Đầu ra là các bounding box dùng cho bước nhận diện hoặc theo dõi tiếp theo.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19088" y="1423151"/>
            <a:ext cx="4572000" cy="1599893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24244" y="1560835"/>
            <a:ext cx="424281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D9472B"/>
                </a:solidFill>
                <a:latin typeface="Aptos"/>
              </a:rPr>
              <a:t>GIẢ ĐỊN</a:t>
            </a:r>
            <a:r>
              <a:rPr lang="en-US" sz="1100" b="1" dirty="0">
                <a:solidFill>
                  <a:srgbClr val="D9472B"/>
                </a:solidFill>
                <a:latin typeface="Aptos"/>
              </a:rPr>
              <a:t>H</a:t>
            </a:r>
            <a:endParaRPr sz="1100" b="1" dirty="0">
              <a:solidFill>
                <a:srgbClr val="D9472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24244" y="1738436"/>
            <a:ext cx="4242816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 err="1">
                <a:solidFill>
                  <a:srgbClr val="5D5A54"/>
                </a:solidFill>
                <a:latin typeface="Aptos"/>
              </a:rPr>
              <a:t>Khuôn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mặt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chính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diện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có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mẫu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tương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phản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khá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ổn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định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: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mắt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tối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hơn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má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sống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mũi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sáng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hơn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hai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bên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nên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có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thể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mô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tả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bằng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các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vùng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chữ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nhật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sáng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-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tối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154680"/>
            <a:ext cx="1325880" cy="1325880"/>
          </a:xfrm>
          <a:prstGeom prst="rect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3154680"/>
            <a:ext cx="658368" cy="13258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59168" y="3154680"/>
            <a:ext cx="667512" cy="1325880"/>
          </a:xfrm>
          <a:prstGeom prst="rect">
            <a:avLst/>
          </a:prstGeom>
          <a:solidFill>
            <a:srgbClr val="F3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82712" y="3154680"/>
            <a:ext cx="1325880" cy="1325880"/>
          </a:xfrm>
          <a:prstGeom prst="rect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82712" y="3154680"/>
            <a:ext cx="1325880" cy="6583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82712" y="3813048"/>
            <a:ext cx="1325880" cy="667512"/>
          </a:xfrm>
          <a:prstGeom prst="rect">
            <a:avLst/>
          </a:prstGeom>
          <a:solidFill>
            <a:srgbClr val="F3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64624" y="3154680"/>
            <a:ext cx="1325880" cy="1325880"/>
          </a:xfrm>
          <a:prstGeom prst="rect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64624" y="3154680"/>
            <a:ext cx="441960" cy="1325880"/>
          </a:xfrm>
          <a:prstGeom prst="rect">
            <a:avLst/>
          </a:prstGeom>
          <a:solidFill>
            <a:srgbClr val="F3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06584" y="3154680"/>
            <a:ext cx="441960" cy="13258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448544" y="3154680"/>
            <a:ext cx="441960" cy="1325880"/>
          </a:xfrm>
          <a:prstGeom prst="rect">
            <a:avLst/>
          </a:prstGeom>
          <a:solidFill>
            <a:srgbClr val="F3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75488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D5A54"/>
                </a:solidFill>
                <a:latin typeface="Aptos"/>
              </a:rPr>
              <a:t>Ba mẫu cơ bản: cạnh dọc, cạnh ngang và dải sáng - tối - sáng.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594360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6181344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D5A54"/>
                </a:solidFill>
                <a:latin typeface="Aptos"/>
              </a:rPr>
              <a:t>CONCEPT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EB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55480" y="-411480"/>
            <a:ext cx="3017520" cy="3017520"/>
          </a:xfrm>
          <a:prstGeom prst="ellipse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CORE MECHANICS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5529"/>
            <a:ext cx="6035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Aptos Display"/>
              </a:rPr>
              <a:t>Đặc trưng Haar và integral image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72084" y="1783080"/>
            <a:ext cx="3566160" cy="1591055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32369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HAAR-LIKE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80260"/>
            <a:ext cx="323697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 err="1">
                <a:solidFill>
                  <a:srgbClr val="5D5A54"/>
                </a:solidFill>
                <a:latin typeface="Aptos"/>
              </a:rPr>
              <a:t>Mỗi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feature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là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hiệu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giữa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tổng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mức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xám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của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các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vùng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chữ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nhật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.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Giá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trị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này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phản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ánh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sự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thay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đổi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cường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độ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sáng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theo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một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mẫu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hình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học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cố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định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1783079"/>
            <a:ext cx="3566160" cy="1591055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2369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INTEGRAL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85416"/>
            <a:ext cx="323697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D5A54"/>
                </a:solidFill>
                <a:latin typeface="Aptos"/>
              </a:rPr>
              <a:t>Integral image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lưu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tổng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tích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lũy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đến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mỗi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tọa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độ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.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Nhờ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đó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tổng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của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một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hình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chữ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nhật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chỉ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cần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4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giá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trị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biên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A, B, C, 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" y="3470884"/>
            <a:ext cx="7315200" cy="1005840"/>
          </a:xfrm>
          <a:prstGeom prst="rect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557016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Aptos Display"/>
              </a:rPr>
              <a:t>sum(rect) = D - B - C +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652445"/>
            <a:ext cx="41605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vi-VN" sz="1200" dirty="0">
                <a:latin typeface="Aptos" panose="020B0004020202020204" pitchFamily="34" charset="0"/>
              </a:rPr>
              <a:t>Nhờ integral image, tổng mức xám của mỗi hình chữ nhật được lấy trong thời gian O(1), thay vì phải cộng toàn bộ pixel trong vùng</a:t>
            </a:r>
            <a:endParaRPr sz="1200" b="0" dirty="0">
              <a:solidFill>
                <a:srgbClr val="5D5A54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75320" y="1783080"/>
            <a:ext cx="2743200" cy="2697480"/>
          </a:xfrm>
          <a:prstGeom prst="rect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8275320" y="2313432"/>
            <a:ext cx="2743200" cy="0"/>
          </a:xfrm>
          <a:prstGeom prst="line">
            <a:avLst/>
          </a:prstGeom>
          <a:ln w="12700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23960" y="1783080"/>
            <a:ext cx="0" cy="2697480"/>
          </a:xfrm>
          <a:prstGeom prst="line">
            <a:avLst/>
          </a:prstGeom>
          <a:ln w="12700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75320" y="2843784"/>
            <a:ext cx="2743200" cy="0"/>
          </a:xfrm>
          <a:prstGeom prst="line">
            <a:avLst/>
          </a:prstGeom>
          <a:ln w="12700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cxnSpLocks/>
          </p:cNvCxnSpPr>
          <p:nvPr/>
        </p:nvCxnSpPr>
        <p:spPr>
          <a:xfrm>
            <a:off x="9372600" y="1783080"/>
            <a:ext cx="0" cy="2697480"/>
          </a:xfrm>
          <a:prstGeom prst="line">
            <a:avLst/>
          </a:prstGeom>
          <a:ln w="12700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75320" y="3374135"/>
            <a:ext cx="2743200" cy="0"/>
          </a:xfrm>
          <a:prstGeom prst="line">
            <a:avLst/>
          </a:prstGeom>
          <a:ln w="12700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921240" y="1783080"/>
            <a:ext cx="0" cy="2697480"/>
          </a:xfrm>
          <a:prstGeom prst="line">
            <a:avLst/>
          </a:prstGeom>
          <a:ln w="12700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75320" y="3904487"/>
            <a:ext cx="2743200" cy="0"/>
          </a:xfrm>
          <a:prstGeom prst="line">
            <a:avLst/>
          </a:prstGeom>
          <a:ln w="12700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469880" y="1783080"/>
            <a:ext cx="0" cy="2697480"/>
          </a:xfrm>
          <a:prstGeom prst="line">
            <a:avLst/>
          </a:prstGeom>
          <a:ln w="12700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778240" y="2240280"/>
            <a:ext cx="1737360" cy="1417320"/>
          </a:xfrm>
          <a:prstGeom prst="rect">
            <a:avLst/>
          </a:prstGeom>
          <a:solidFill>
            <a:srgbClr val="D9472B"/>
          </a:solidFill>
          <a:ln w="19050">
            <a:solidFill>
              <a:srgbClr val="D94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49640" y="2011680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ptos Display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2011680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ptos Display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703320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ptos Display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3703320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ptos Display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" y="4956937"/>
            <a:ext cx="6949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5D5A54"/>
                </a:solidFill>
                <a:latin typeface="Aptos"/>
              </a:rPr>
              <a:t>Ý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nghĩa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thực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tế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: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một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frame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có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thể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chứa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hàng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nghìn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cửa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sổ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và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mỗi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cửa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sổ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có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rất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nhiều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feature. Integral image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giúp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việc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tính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toán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đủ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nhanh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để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dùng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realtime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594360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6181344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D5A54"/>
                </a:solidFill>
                <a:latin typeface="Aptos"/>
              </a:rPr>
              <a:t>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231" y="0"/>
            <a:ext cx="12191695" cy="6858000"/>
          </a:xfrm>
          <a:prstGeom prst="rect">
            <a:avLst/>
          </a:prstGeom>
          <a:solidFill>
            <a:srgbClr val="EB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55480" y="-411480"/>
            <a:ext cx="3017520" cy="3017520"/>
          </a:xfrm>
          <a:prstGeom prst="ellipse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6035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Aptos Display"/>
              </a:rPr>
              <a:t>AdaBoost chọn feature và ngưỡng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2240280"/>
            <a:ext cx="2194560" cy="0"/>
          </a:xfrm>
          <a:prstGeom prst="line">
            <a:avLst/>
          </a:prstGeom>
          <a:ln w="12700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1874519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7744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Aptos Display"/>
              </a:rPr>
              <a:t>Mẫu dương / âm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34640"/>
            <a:ext cx="22402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D5A54"/>
                </a:solidFill>
                <a:latin typeface="Aptos"/>
              </a:rPr>
              <a:t>Tập huấn luyện gồm ảnh có mặt và ảnh không có mặt ở cùng kích thước chuẩn.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01568" y="2240280"/>
            <a:ext cx="2194559" cy="0"/>
          </a:xfrm>
          <a:prstGeom prst="line">
            <a:avLst/>
          </a:prstGeom>
          <a:ln w="12700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01568" y="1874519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37744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Aptos Display"/>
              </a:rPr>
              <a:t>Sinh nhiều 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834640"/>
            <a:ext cx="22402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D5A54"/>
                </a:solidFill>
                <a:latin typeface="Aptos"/>
              </a:rPr>
              <a:t>Từ mỗi cửa sổ chuẩn, hệ thống sinh ra số lượng rất lớn feature hình chữ nhật.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44768" y="2240280"/>
            <a:ext cx="2194559" cy="0"/>
          </a:xfrm>
          <a:prstGeom prst="line">
            <a:avLst/>
          </a:prstGeom>
          <a:ln w="12700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44768" y="1874519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37744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Aptos Display"/>
              </a:rPr>
              <a:t>AdaBoost tối ưu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2834640"/>
            <a:ext cx="2240280" cy="2031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AdaBoost </a:t>
            </a:r>
            <a:r>
              <a:rPr sz="14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chọn</a:t>
            </a:r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sz="14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các</a:t>
            </a:r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 feature </a:t>
            </a:r>
            <a:r>
              <a:rPr sz="14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có</a:t>
            </a:r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sz="14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sai</a:t>
            </a:r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sz="14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số</a:t>
            </a:r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sz="14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thấp</a:t>
            </a:r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sz="14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và</a:t>
            </a:r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sz="14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tăng</a:t>
            </a:r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sz="14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trọng</a:t>
            </a:r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sz="14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số</a:t>
            </a:r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sz="14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cho</a:t>
            </a:r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sz="14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các</a:t>
            </a:r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sz="14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mẫu</a:t>
            </a:r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sz="14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đang</a:t>
            </a:r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sz="14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bị</a:t>
            </a:r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sz="14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phân</a:t>
            </a:r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sz="14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loại</a:t>
            </a:r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sz="14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sai</a:t>
            </a:r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.</a:t>
            </a:r>
            <a:r>
              <a:rPr lang="vi-V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 Sau mỗi vòng lặp, các mẫu bị phân loại sai sẽ được tăng trọng số để mô hình tập trung học vào các trường hợp khó</a:t>
            </a:r>
            <a:endParaRPr sz="1400" b="0" dirty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8887968" y="2240280"/>
            <a:ext cx="2194560" cy="0"/>
          </a:xfrm>
          <a:prstGeom prst="line">
            <a:avLst/>
          </a:prstGeom>
          <a:ln w="12700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887968" y="1874519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237744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Aptos Display"/>
              </a:rPr>
              <a:t>Weak classifier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2834640"/>
            <a:ext cx="2240280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 err="1">
                <a:solidFill>
                  <a:srgbClr val="5D5A54"/>
                </a:solidFill>
                <a:latin typeface="Aptos"/>
              </a:rPr>
              <a:t>Mỗi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feature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được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gắn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với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ngưỡng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và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chiều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so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sánh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để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tạo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một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bộ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phân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loại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yếu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.</a:t>
            </a:r>
            <a:r>
              <a:rPr lang="vi-VN" sz="1400" dirty="0"/>
              <a:t> </a:t>
            </a:r>
            <a:endParaRPr lang="en-US" sz="1400" dirty="0"/>
          </a:p>
          <a:p>
            <a:pPr algn="l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-&gt; </a:t>
            </a:r>
            <a:r>
              <a:rPr lang="vi-V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Mỗi weak classifier thường dựa trên một feature, một ngưỡng </a:t>
            </a:r>
            <a:r>
              <a:rPr lang="el-G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θ </a:t>
            </a:r>
            <a:r>
              <a:rPr lang="vi-V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và một chiều so sánh p</a:t>
            </a:r>
            <a:endParaRPr sz="1400" b="0" dirty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57210" y="5056941"/>
            <a:ext cx="4526280" cy="1203141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5120950"/>
            <a:ext cx="41970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KẾT QUẢ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358694"/>
            <a:ext cx="4197096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 err="1">
                <a:solidFill>
                  <a:srgbClr val="5D5A54"/>
                </a:solidFill>
                <a:latin typeface="Aptos"/>
              </a:rPr>
              <a:t>Mô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hình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cuối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cùng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chỉ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giữ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một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tập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nhỏ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feature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có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sức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phân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biệt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cao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thay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vì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dùng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toàn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bộ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feature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đã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sinh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ra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ban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đầu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594360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6181344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D5A54"/>
                </a:solidFill>
                <a:latin typeface="Aptos"/>
              </a:rPr>
              <a:t>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55480" y="-411480"/>
            <a:ext cx="3017520" cy="3017520"/>
          </a:xfrm>
          <a:prstGeom prst="ellipse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DETECTION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6035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Aptos Display"/>
              </a:rPr>
              <a:t>Cascade classifier khi suy luận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5D5A54"/>
                </a:solidFill>
                <a:latin typeface="Aptos"/>
              </a:rPr>
              <a:t>Mỗi cửa sổ ảnh phải vượt qua nhiều stage nối tiếp.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5D5A54"/>
                </a:solidFill>
                <a:latin typeface="Aptos"/>
              </a:rPr>
              <a:t>Stage đầu dùng ít feature để loại phần lớn negative window.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5D5A54"/>
                </a:solidFill>
                <a:latin typeface="Aptos"/>
              </a:rPr>
              <a:t>Chỉ các cửa sổ còn nghi ngờ mới được chuyển sang stage tiếp theo.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5D5A54"/>
                </a:solidFill>
                <a:latin typeface="Aptos"/>
              </a:rPr>
              <a:t>Cửa sổ bị loại ở bất kỳ stage nào sẽ dừng xử lý ngay.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2139696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212"/>
                </a:solidFill>
                <a:latin typeface="Aptos Display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139696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D5A54"/>
                </a:solidFill>
                <a:latin typeface="Aptos"/>
              </a:rPr>
              <a:t>few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697480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825496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212"/>
                </a:solidFill>
                <a:latin typeface="Aptos Display"/>
              </a:rP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825496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D5A54"/>
                </a:solidFill>
                <a:latin typeface="Aptos"/>
              </a:rPr>
              <a:t>more filters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383280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3511296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212"/>
                </a:solidFill>
                <a:latin typeface="Aptos Display"/>
              </a:rPr>
              <a:t>Stage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3511296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D5A54"/>
                </a:solidFill>
                <a:latin typeface="Aptos"/>
              </a:rPr>
              <a:t>strict check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069080"/>
            <a:ext cx="4389120" cy="530352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4197096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212"/>
                </a:solidFill>
                <a:latin typeface="Aptos Display"/>
              </a:rPr>
              <a:t>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197096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D5A54"/>
                </a:solidFill>
                <a:latin typeface="Aptos"/>
              </a:rPr>
              <a:t>accepted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62030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 err="1">
                <a:solidFill>
                  <a:srgbClr val="5D5A54"/>
                </a:solidFill>
                <a:latin typeface="Aptos"/>
              </a:rPr>
              <a:t>Ưu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điểm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: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tốc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độ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cao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vì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loại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negative window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rất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sớm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2180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D5A54"/>
                </a:solidFill>
                <a:latin typeface="Aptos"/>
              </a:rPr>
              <a:t>Hạn chế: kém ổn định khi mặt nghiêng mạnh, ánh sáng xấu hoặc bị che khuất.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594360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6181344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D5A54"/>
                </a:solidFill>
                <a:latin typeface="Aptos"/>
              </a:rPr>
              <a:t>CASCADE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372" y="0"/>
            <a:ext cx="12191695" cy="6858000"/>
          </a:xfrm>
          <a:prstGeom prst="rect">
            <a:avLst/>
          </a:prstGeom>
          <a:solidFill>
            <a:srgbClr val="EB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55480" y="-411480"/>
            <a:ext cx="3017520" cy="3017520"/>
          </a:xfrm>
          <a:prstGeom prst="ellipse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APPLICATION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6035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Aptos Display"/>
              </a:rPr>
              <a:t>Vị trí của Haar Cascade trong ứng dụng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743200"/>
            <a:ext cx="1783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4924" y="2953512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121212"/>
                </a:solidFill>
                <a:latin typeface="Aptos"/>
              </a:rPr>
              <a:t>RTSP /
Webcam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04288" y="3200400"/>
            <a:ext cx="274320" cy="0"/>
          </a:xfrm>
          <a:prstGeom prst="line">
            <a:avLst/>
          </a:prstGeom>
          <a:ln w="15875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675755" y="2749337"/>
            <a:ext cx="1783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2962656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21212"/>
                </a:solidFill>
                <a:latin typeface="Aptos"/>
              </a:rPr>
              <a:t>Grayscale +
Equalize + Blur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24623" y="3206537"/>
            <a:ext cx="274320" cy="0"/>
          </a:xfrm>
          <a:prstGeom prst="line">
            <a:avLst/>
          </a:prstGeom>
          <a:ln w="15875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974336" y="2743200"/>
            <a:ext cx="1783080" cy="91440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84064" y="2962656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212"/>
                </a:solidFill>
                <a:latin typeface="Aptos Display"/>
              </a:rPr>
              <a:t>Haar Cascade
phát hiện mặt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47660" y="3200400"/>
            <a:ext cx="274320" cy="0"/>
          </a:xfrm>
          <a:prstGeom prst="line">
            <a:avLst/>
          </a:prstGeom>
          <a:ln w="15875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406640" y="2743200"/>
            <a:ext cx="1783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16367" y="2962656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21212"/>
                </a:solidFill>
                <a:latin typeface="Aptos"/>
              </a:rPr>
              <a:t>LBPH
nhận diện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81159" y="3197332"/>
            <a:ext cx="274321" cy="0"/>
          </a:xfrm>
          <a:prstGeom prst="line">
            <a:avLst/>
          </a:prstGeom>
          <a:ln w="15875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704527" y="2743200"/>
            <a:ext cx="1783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2962656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21212"/>
                </a:solidFill>
                <a:latin typeface="Aptos"/>
              </a:rPr>
              <a:t>CSV
điểm danh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120" y="578358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 err="1">
                <a:solidFill>
                  <a:srgbClr val="5D5A54"/>
                </a:solidFill>
                <a:latin typeface="Aptos"/>
              </a:rPr>
              <a:t>Haar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Cascade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chỉ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đảm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nhiệm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phát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hiện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vùng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mặt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;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phần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nhận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diện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danh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tính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được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thực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hiện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riêng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bằng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LBPH.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594360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6181344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D5A54"/>
                </a:solidFill>
                <a:latin typeface="Aptos"/>
              </a:rPr>
              <a:t>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24" y="4031325"/>
            <a:ext cx="7786024" cy="1246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5D5A54"/>
                </a:solidFill>
                <a:latin typeface="Aptos"/>
              </a:rPr>
              <a:t>Trong 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code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hiện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tại</a:t>
            </a:r>
            <a:r>
              <a:rPr sz="1500" b="0" i="1" dirty="0">
                <a:solidFill>
                  <a:srgbClr val="5D5A54"/>
                </a:solidFill>
                <a:latin typeface="Aptos"/>
              </a:rPr>
              <a:t>, </a:t>
            </a:r>
            <a:r>
              <a:rPr sz="1500" b="0" i="1" dirty="0" err="1">
                <a:solidFill>
                  <a:srgbClr val="5D5A54"/>
                </a:solidFill>
                <a:latin typeface="Aptos"/>
              </a:rPr>
              <a:t>ảnh</a:t>
            </a:r>
            <a:r>
              <a:rPr sz="1500" b="0" i="1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i="1" dirty="0" err="1">
                <a:solidFill>
                  <a:srgbClr val="5D5A54"/>
                </a:solidFill>
                <a:latin typeface="Aptos"/>
              </a:rPr>
              <a:t>được</a:t>
            </a:r>
            <a:r>
              <a:rPr sz="1500" b="0" i="1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i="1" dirty="0" err="1">
                <a:solidFill>
                  <a:srgbClr val="5D5A54"/>
                </a:solidFill>
                <a:latin typeface="Aptos"/>
              </a:rPr>
              <a:t>chuyển</a:t>
            </a:r>
            <a:r>
              <a:rPr sz="1500" b="0" i="1" dirty="0">
                <a:solidFill>
                  <a:srgbClr val="5D5A54"/>
                </a:solidFill>
                <a:latin typeface="Aptos"/>
              </a:rPr>
              <a:t> sang grayscale, </a:t>
            </a:r>
            <a:r>
              <a:rPr sz="1500" b="0" i="1" dirty="0" err="1">
                <a:solidFill>
                  <a:srgbClr val="5D5A54"/>
                </a:solidFill>
                <a:latin typeface="Aptos"/>
              </a:rPr>
              <a:t>cân</a:t>
            </a:r>
            <a:r>
              <a:rPr sz="1500" b="0" i="1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i="1" dirty="0" err="1">
                <a:solidFill>
                  <a:srgbClr val="5D5A54"/>
                </a:solidFill>
                <a:latin typeface="Aptos"/>
              </a:rPr>
              <a:t>bằng</a:t>
            </a:r>
            <a:r>
              <a:rPr sz="1500" b="0" i="1" dirty="0">
                <a:solidFill>
                  <a:srgbClr val="5D5A54"/>
                </a:solidFill>
                <a:latin typeface="Aptos"/>
              </a:rPr>
              <a:t> histogram, </a:t>
            </a:r>
            <a:r>
              <a:rPr sz="1500" b="0" i="1" dirty="0" err="1">
                <a:solidFill>
                  <a:srgbClr val="5D5A54"/>
                </a:solidFill>
                <a:latin typeface="Aptos"/>
              </a:rPr>
              <a:t>làm</a:t>
            </a:r>
            <a:r>
              <a:rPr sz="1500" b="0" i="1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i="1" dirty="0" err="1">
                <a:solidFill>
                  <a:srgbClr val="5D5A54"/>
                </a:solidFill>
                <a:latin typeface="Aptos"/>
              </a:rPr>
              <a:t>mờ</a:t>
            </a:r>
            <a:r>
              <a:rPr sz="1500" b="0" i="1" dirty="0">
                <a:solidFill>
                  <a:srgbClr val="5D5A54"/>
                </a:solidFill>
                <a:latin typeface="Aptos"/>
              </a:rPr>
              <a:t> Gaussian </a:t>
            </a:r>
            <a:r>
              <a:rPr sz="1500" b="0" i="1" dirty="0" err="1">
                <a:solidFill>
                  <a:srgbClr val="5D5A54"/>
                </a:solidFill>
                <a:latin typeface="Aptos"/>
              </a:rPr>
              <a:t>rồi</a:t>
            </a:r>
            <a:r>
              <a:rPr sz="1500" b="0" i="1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i="1" dirty="0" err="1">
                <a:solidFill>
                  <a:srgbClr val="5D5A54"/>
                </a:solidFill>
                <a:latin typeface="Aptos"/>
              </a:rPr>
              <a:t>đưa</a:t>
            </a:r>
            <a:r>
              <a:rPr sz="1500" b="0" i="1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i="1" dirty="0" err="1">
                <a:solidFill>
                  <a:srgbClr val="5D5A54"/>
                </a:solidFill>
                <a:latin typeface="Aptos"/>
              </a:rPr>
              <a:t>vào</a:t>
            </a:r>
            <a:r>
              <a:rPr sz="1500" b="0" i="1" dirty="0">
                <a:solidFill>
                  <a:srgbClr val="5D5A54"/>
                </a:solidFill>
                <a:latin typeface="Aptos"/>
              </a:rPr>
              <a:t> </a:t>
            </a:r>
            <a:r>
              <a:rPr sz="1500" b="0" i="1" dirty="0" err="1">
                <a:solidFill>
                  <a:srgbClr val="5D5A54"/>
                </a:solidFill>
                <a:latin typeface="Aptos"/>
              </a:rPr>
              <a:t>detectMultiScale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(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scaleFactor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=1.2,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minNeighbors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=5, </a:t>
            </a:r>
            <a:r>
              <a:rPr sz="1500" b="0" dirty="0" err="1">
                <a:solidFill>
                  <a:srgbClr val="5D5A54"/>
                </a:solidFill>
                <a:latin typeface="Aptos"/>
              </a:rPr>
              <a:t>minSize</a:t>
            </a:r>
            <a:r>
              <a:rPr sz="1500" b="0" dirty="0">
                <a:solidFill>
                  <a:srgbClr val="5D5A54"/>
                </a:solidFill>
                <a:latin typeface="Aptos"/>
              </a:rPr>
              <a:t>=(90,90)).</a:t>
            </a:r>
            <a:endParaRPr lang="en-US" sz="1500" b="0" dirty="0">
              <a:solidFill>
                <a:srgbClr val="5D5A54"/>
              </a:solidFill>
              <a:latin typeface="Aptos"/>
            </a:endParaRPr>
          </a:p>
          <a:p>
            <a:pPr algn="l"/>
            <a:r>
              <a:rPr lang="en-US" sz="1500" b="1" dirty="0" err="1">
                <a:solidFill>
                  <a:srgbClr val="5D5A54"/>
                </a:solidFill>
                <a:latin typeface="Aptos"/>
              </a:rPr>
              <a:t>ScaleFactor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: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bước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thay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đổi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tỷ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lệ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khi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quét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image pyramid</a:t>
            </a:r>
          </a:p>
          <a:p>
            <a:pPr algn="l"/>
            <a:r>
              <a:rPr lang="en-US" sz="1500" b="1" dirty="0" err="1">
                <a:solidFill>
                  <a:srgbClr val="5D5A54"/>
                </a:solidFill>
                <a:latin typeface="Aptos"/>
              </a:rPr>
              <a:t>minNeighbors</a:t>
            </a:r>
            <a:r>
              <a:rPr lang="en-US" sz="1500" dirty="0">
                <a:solidFill>
                  <a:srgbClr val="5D5A54"/>
                </a:solidFill>
                <a:latin typeface="Aptos"/>
              </a:rPr>
              <a:t>: </a:t>
            </a:r>
            <a:r>
              <a:rPr lang="en-US" sz="1500" dirty="0" err="1">
                <a:solidFill>
                  <a:srgbClr val="5D5A54"/>
                </a:solidFill>
                <a:latin typeface="Aptos"/>
              </a:rPr>
              <a:t>số</a:t>
            </a:r>
            <a:r>
              <a:rPr lang="en-US" sz="150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5D5A54"/>
                </a:solidFill>
                <a:latin typeface="Aptos"/>
              </a:rPr>
              <a:t>lượng</a:t>
            </a:r>
            <a:r>
              <a:rPr lang="en-US" sz="150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5D5A54"/>
                </a:solidFill>
                <a:latin typeface="Aptos"/>
              </a:rPr>
              <a:t>lân</a:t>
            </a:r>
            <a:r>
              <a:rPr lang="en-US" sz="150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5D5A54"/>
                </a:solidFill>
                <a:latin typeface="Aptos"/>
              </a:rPr>
              <a:t>cận</a:t>
            </a:r>
            <a:r>
              <a:rPr lang="en-US" sz="150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5D5A54"/>
                </a:solidFill>
                <a:latin typeface="Aptos"/>
              </a:rPr>
              <a:t>có</a:t>
            </a:r>
            <a:r>
              <a:rPr lang="en-US" sz="150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5D5A54"/>
                </a:solidFill>
                <a:latin typeface="Aptos"/>
              </a:rPr>
              <a:t>thể</a:t>
            </a:r>
            <a:r>
              <a:rPr lang="en-US" sz="150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5D5A54"/>
                </a:solidFill>
                <a:latin typeface="Aptos"/>
              </a:rPr>
              <a:t>giữ</a:t>
            </a:r>
            <a:r>
              <a:rPr lang="en-US" sz="150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5D5A54"/>
                </a:solidFill>
                <a:latin typeface="Aptos"/>
              </a:rPr>
              <a:t>lại</a:t>
            </a:r>
            <a:r>
              <a:rPr lang="en-US" sz="150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5D5A54"/>
                </a:solidFill>
                <a:latin typeface="Aptos"/>
              </a:rPr>
              <a:t>một</a:t>
            </a:r>
            <a:r>
              <a:rPr lang="en-US" sz="150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5D5A54"/>
                </a:solidFill>
                <a:latin typeface="Aptos"/>
              </a:rPr>
              <a:t>vùng</a:t>
            </a:r>
            <a:r>
              <a:rPr lang="en-US" sz="150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5D5A54"/>
                </a:solidFill>
                <a:latin typeface="Aptos"/>
              </a:rPr>
              <a:t>phát</a:t>
            </a:r>
            <a:r>
              <a:rPr lang="en-US" sz="150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dirty="0" err="1">
                <a:solidFill>
                  <a:srgbClr val="5D5A54"/>
                </a:solidFill>
                <a:latin typeface="Aptos"/>
              </a:rPr>
              <a:t>hiện</a:t>
            </a:r>
            <a:endParaRPr lang="en-US" sz="1500" dirty="0">
              <a:solidFill>
                <a:srgbClr val="5D5A54"/>
              </a:solidFill>
              <a:latin typeface="Aptos"/>
            </a:endParaRPr>
          </a:p>
          <a:p>
            <a:pPr algn="l"/>
            <a:r>
              <a:rPr lang="en-US" sz="1500" b="1" dirty="0" err="1">
                <a:solidFill>
                  <a:srgbClr val="5D5A54"/>
                </a:solidFill>
                <a:latin typeface="Aptos"/>
              </a:rPr>
              <a:t>minSize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: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kích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thước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khuôn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mặt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nhỏ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nhất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mà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hệ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thống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chấp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nhận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tìm</a:t>
            </a:r>
            <a:r>
              <a:rPr lang="en-US" sz="1500" b="0" dirty="0">
                <a:solidFill>
                  <a:srgbClr val="5D5A54"/>
                </a:solidFill>
                <a:latin typeface="Aptos"/>
              </a:rPr>
              <a:t> </a:t>
            </a:r>
            <a:r>
              <a:rPr lang="en-US" sz="1500" b="0" dirty="0" err="1">
                <a:solidFill>
                  <a:srgbClr val="5D5A54"/>
                </a:solidFill>
                <a:latin typeface="Aptos"/>
              </a:rPr>
              <a:t>kiếm</a:t>
            </a:r>
            <a:endParaRPr sz="1500" b="0" dirty="0">
              <a:solidFill>
                <a:srgbClr val="5D5A5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EB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55480" y="-411480"/>
            <a:ext cx="3017520" cy="3017520"/>
          </a:xfrm>
          <a:prstGeom prst="ellipse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32918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D9472B"/>
                </a:solidFill>
                <a:latin typeface="Aptos"/>
              </a:rPr>
              <a:t>APP </a:t>
            </a:r>
            <a:r>
              <a:rPr lang="en-US" sz="1100" b="1" dirty="0">
                <a:solidFill>
                  <a:srgbClr val="D9472B"/>
                </a:solidFill>
                <a:latin typeface="Aptos"/>
              </a:rPr>
              <a:t>WORKFLOW</a:t>
            </a:r>
            <a:endParaRPr sz="1100" b="1" dirty="0">
              <a:solidFill>
                <a:srgbClr val="D9472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60350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 err="1">
                <a:solidFill>
                  <a:srgbClr val="121212"/>
                </a:solidFill>
                <a:latin typeface="Aptos Display"/>
              </a:rPr>
              <a:t>Luồng</a:t>
            </a:r>
            <a:r>
              <a:rPr lang="en-US" sz="2800" b="1" dirty="0">
                <a:solidFill>
                  <a:srgbClr val="121212"/>
                </a:solidFill>
                <a:latin typeface="Aptos Display"/>
              </a:rPr>
              <a:t> </a:t>
            </a:r>
            <a:r>
              <a:rPr lang="en-US" sz="2800" b="1" dirty="0" err="1">
                <a:solidFill>
                  <a:srgbClr val="121212"/>
                </a:solidFill>
                <a:latin typeface="Aptos Display"/>
              </a:rPr>
              <a:t>hoạt</a:t>
            </a:r>
            <a:r>
              <a:rPr lang="en-US" sz="2800" b="1" dirty="0">
                <a:solidFill>
                  <a:srgbClr val="121212"/>
                </a:solidFill>
                <a:latin typeface="Aptos Display"/>
              </a:rPr>
              <a:t> </a:t>
            </a:r>
            <a:r>
              <a:rPr lang="en-US" sz="2800" b="1" dirty="0" err="1">
                <a:solidFill>
                  <a:srgbClr val="121212"/>
                </a:solidFill>
                <a:latin typeface="Aptos Display"/>
              </a:rPr>
              <a:t>động</a:t>
            </a:r>
            <a:r>
              <a:rPr sz="2800" b="1" dirty="0">
                <a:solidFill>
                  <a:srgbClr val="121212"/>
                </a:solidFill>
                <a:latin typeface="Aptos Display"/>
              </a:rPr>
              <a:t> </a:t>
            </a:r>
            <a:r>
              <a:rPr sz="2800" b="1" dirty="0" err="1">
                <a:solidFill>
                  <a:srgbClr val="121212"/>
                </a:solidFill>
                <a:latin typeface="Aptos Display"/>
              </a:rPr>
              <a:t>chính</a:t>
            </a:r>
            <a:r>
              <a:rPr sz="2800" b="1" dirty="0">
                <a:solidFill>
                  <a:srgbClr val="121212"/>
                </a:solidFill>
                <a:latin typeface="Aptos Display"/>
              </a:rPr>
              <a:t> </a:t>
            </a:r>
            <a:r>
              <a:rPr sz="2800" b="1" dirty="0" err="1">
                <a:solidFill>
                  <a:srgbClr val="121212"/>
                </a:solidFill>
                <a:latin typeface="Aptos Display"/>
              </a:rPr>
              <a:t>của</a:t>
            </a:r>
            <a:r>
              <a:rPr sz="2800" b="1" dirty="0">
                <a:solidFill>
                  <a:srgbClr val="121212"/>
                </a:solidFill>
                <a:latin typeface="Aptos Display"/>
              </a:rPr>
              <a:t> </a:t>
            </a:r>
            <a:r>
              <a:rPr sz="2800" b="1" dirty="0" err="1">
                <a:solidFill>
                  <a:srgbClr val="121212"/>
                </a:solidFill>
                <a:latin typeface="Aptos Display"/>
              </a:rPr>
              <a:t>ứng</a:t>
            </a:r>
            <a:r>
              <a:rPr sz="2800" b="1" dirty="0">
                <a:solidFill>
                  <a:srgbClr val="121212"/>
                </a:solidFill>
                <a:latin typeface="Aptos Display"/>
              </a:rPr>
              <a:t> </a:t>
            </a:r>
            <a:r>
              <a:rPr sz="2800" b="1" dirty="0" err="1">
                <a:solidFill>
                  <a:srgbClr val="121212"/>
                </a:solidFill>
                <a:latin typeface="Aptos Display"/>
              </a:rPr>
              <a:t>dụng</a:t>
            </a:r>
            <a:endParaRPr sz="2800" b="1" dirty="0">
              <a:solidFill>
                <a:srgbClr val="121212"/>
              </a:solidFill>
              <a:latin typeface="Aptos Displa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8368" y="2148840"/>
            <a:ext cx="23317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3774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472B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9748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Aptos Display"/>
              </a:rPr>
              <a:t>Nguồn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127248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D5A54"/>
                </a:solidFill>
                <a:latin typeface="Aptos"/>
              </a:rPr>
              <a:t>Nhận RTSP stream hoặc webcam để lấy frame realtime.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7287" y="2148840"/>
            <a:ext cx="23317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0168" y="23774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472B"/>
                </a:solidFill>
                <a:latin typeface="Aptos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69748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Aptos Display"/>
              </a:rPr>
              <a:t>Thu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073" y="306491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 err="1">
                <a:solidFill>
                  <a:srgbClr val="5D5A54"/>
                </a:solidFill>
                <a:latin typeface="Aptos"/>
              </a:rPr>
              <a:t>Lưu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ảnh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khuôn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mặt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theo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từng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sinh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viên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từ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camera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hoặc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thư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mục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ảnh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7" y="2148840"/>
            <a:ext cx="23317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23774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472B"/>
                </a:solidFill>
                <a:latin typeface="Aptos Display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69748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Aptos Display"/>
              </a:rPr>
              <a:t>Train LBPH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1948" y="310896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D5A54"/>
                </a:solidFill>
                <a:latin typeface="Aptos"/>
              </a:rPr>
              <a:t>Sinh model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nhận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diện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và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file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ánh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xạ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label sang MSSV,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họ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D5A54"/>
                </a:solidFill>
                <a:latin typeface="Aptos"/>
              </a:rPr>
              <a:t>tên</a:t>
            </a:r>
            <a:r>
              <a:rPr sz="1400" b="0" dirty="0">
                <a:solidFill>
                  <a:srgbClr val="5D5A54"/>
                </a:solidFill>
                <a:latin typeface="Aptos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5128" y="2148840"/>
            <a:ext cx="23317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08007" y="23774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472B"/>
                </a:solidFill>
                <a:latin typeface="Aptos Display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7" y="269748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Aptos Display"/>
              </a:rPr>
              <a:t>Điểm danh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7" y="3127248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D5A54"/>
                </a:solidFill>
                <a:latin typeface="Aptos"/>
              </a:rPr>
              <a:t>Nhận diện khuôn mặt trong frame và ghi kết quả ra CSV theo ngày.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594360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6181344"/>
            <a:ext cx="146304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000" b="0" dirty="0">
                <a:solidFill>
                  <a:srgbClr val="5D5A54"/>
                </a:solidFill>
                <a:latin typeface="Aptos"/>
              </a:rPr>
              <a:t>workflow</a:t>
            </a:r>
            <a:endParaRPr sz="1000" b="0" dirty="0">
              <a:solidFill>
                <a:srgbClr val="5D5A5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EB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55480" y="-411480"/>
            <a:ext cx="3017520" cy="3017520"/>
          </a:xfrm>
          <a:prstGeom prst="ellipse">
            <a:avLst/>
          </a:prstGeom>
          <a:noFill/>
          <a:ln w="12700">
            <a:solidFill>
              <a:srgbClr val="D4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32918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1" dirty="0">
                <a:solidFill>
                  <a:srgbClr val="D9472B"/>
                </a:solidFill>
                <a:latin typeface="Aptos"/>
              </a:rPr>
              <a:t>SUMMARY</a:t>
            </a:r>
            <a:endParaRPr sz="1100" b="1" dirty="0">
              <a:solidFill>
                <a:srgbClr val="D9472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60350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 err="1">
                <a:solidFill>
                  <a:srgbClr val="121212"/>
                </a:solidFill>
                <a:latin typeface="Aptos Display"/>
              </a:rPr>
              <a:t>Kết</a:t>
            </a:r>
            <a:r>
              <a:rPr sz="2800" b="1" dirty="0">
                <a:solidFill>
                  <a:srgbClr val="121212"/>
                </a:solidFill>
                <a:latin typeface="Aptos Display"/>
              </a:rPr>
              <a:t> </a:t>
            </a:r>
            <a:r>
              <a:rPr sz="2800" b="1" dirty="0" err="1">
                <a:solidFill>
                  <a:srgbClr val="121212"/>
                </a:solidFill>
                <a:latin typeface="Aptos Display"/>
              </a:rPr>
              <a:t>l</a:t>
            </a:r>
            <a:r>
              <a:rPr lang="en-US" sz="2800" b="1" dirty="0" err="1">
                <a:solidFill>
                  <a:srgbClr val="121212"/>
                </a:solidFill>
                <a:latin typeface="Aptos Display"/>
              </a:rPr>
              <a:t>uận</a:t>
            </a:r>
            <a:endParaRPr sz="2800" b="1" dirty="0">
              <a:solidFill>
                <a:srgbClr val="121212"/>
              </a:solidFill>
              <a:latin typeface="Aptos Display"/>
            </a:endParaRPr>
          </a:p>
        </p:txBody>
      </p:sp>
      <p:cxnSp>
        <p:nvCxnSpPr>
          <p:cNvPr id="7" name="Connector 6"/>
          <p:cNvCxnSpPr>
            <a:cxnSpLocks/>
          </p:cNvCxnSpPr>
          <p:nvPr/>
        </p:nvCxnSpPr>
        <p:spPr>
          <a:xfrm>
            <a:off x="1234440" y="2468880"/>
            <a:ext cx="9326880" cy="27432"/>
          </a:xfrm>
          <a:prstGeom prst="line">
            <a:avLst/>
          </a:prstGeom>
          <a:ln w="12700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224028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472B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40280"/>
            <a:ext cx="8138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 err="1">
                <a:solidFill>
                  <a:srgbClr val="5D5A54"/>
                </a:solidFill>
                <a:latin typeface="Aptos"/>
              </a:rPr>
              <a:t>Haar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Cascade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là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bộ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phát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hiện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nhanh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phù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hợp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cho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khuôn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mặt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chính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diện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và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xử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lý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thời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gian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thực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34440" y="3337560"/>
            <a:ext cx="9326880" cy="0"/>
          </a:xfrm>
          <a:prstGeom prst="line">
            <a:avLst/>
          </a:prstGeom>
          <a:ln w="12700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308152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472B"/>
                </a:solidFill>
                <a:latin typeface="Aptos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81528"/>
            <a:ext cx="8138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 err="1">
                <a:solidFill>
                  <a:srgbClr val="5D5A54"/>
                </a:solidFill>
                <a:latin typeface="Aptos"/>
              </a:rPr>
              <a:t>Hiệu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quả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của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thuật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toán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đến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từ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feature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hình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chữ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nhật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, integral image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và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cấu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trúc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cascade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nhiều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stage.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4440" y="4178808"/>
            <a:ext cx="9326880" cy="0"/>
          </a:xfrm>
          <a:prstGeom prst="line">
            <a:avLst/>
          </a:prstGeom>
          <a:ln w="12700">
            <a:solidFill>
              <a:srgbClr val="D4C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922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D9472B"/>
                </a:solidFill>
                <a:latin typeface="Aptos Displa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922776"/>
            <a:ext cx="8138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D5A54"/>
                </a:solidFill>
                <a:latin typeface="Aptos"/>
              </a:rPr>
              <a:t>Trong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hệ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thống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điểm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danh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này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Haar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Cascade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và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LBPH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tách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vai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trò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rõ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ràng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: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phát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hiện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trước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nhận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diện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D5A54"/>
                </a:solidFill>
                <a:latin typeface="Aptos"/>
              </a:rPr>
              <a:t>sau</a:t>
            </a:r>
            <a:r>
              <a:rPr sz="1600" b="0" dirty="0">
                <a:solidFill>
                  <a:srgbClr val="5D5A54"/>
                </a:solidFill>
                <a:latin typeface="Apto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594360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472B"/>
                </a:solidFill>
                <a:latin typeface="Aptos"/>
              </a:rPr>
              <a:t>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5560" y="6181344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D5A54"/>
                </a:solidFill>
                <a:latin typeface="Aptos"/>
              </a:rPr>
              <a:t>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62F8A1-378B-D765-77D4-5A540B761D52}"/>
              </a:ext>
            </a:extLst>
          </p:cNvPr>
          <p:cNvSpPr txBox="1"/>
          <p:nvPr/>
        </p:nvSpPr>
        <p:spPr>
          <a:xfrm>
            <a:off x="658368" y="4764024"/>
            <a:ext cx="4114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D9472B"/>
                </a:solidFill>
                <a:latin typeface="Aptos Display"/>
              </a:rPr>
              <a:t>0</a:t>
            </a:r>
            <a:r>
              <a:rPr lang="en-US" sz="1300" b="1" dirty="0">
                <a:solidFill>
                  <a:srgbClr val="D9472B"/>
                </a:solidFill>
                <a:latin typeface="Aptos Display"/>
              </a:rPr>
              <a:t>4</a:t>
            </a:r>
            <a:endParaRPr sz="1300" b="1" dirty="0">
              <a:solidFill>
                <a:srgbClr val="D9472B"/>
              </a:solidFill>
              <a:latin typeface="Aptos Display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D011941-F3FD-45AE-4B0A-3BE5A8AC7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184" y="4883849"/>
            <a:ext cx="9419136" cy="12802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C364C93-03D0-9774-F7A1-71C10C4759D2}"/>
              </a:ext>
            </a:extLst>
          </p:cNvPr>
          <p:cNvSpPr txBox="1"/>
          <p:nvPr/>
        </p:nvSpPr>
        <p:spPr>
          <a:xfrm>
            <a:off x="1325880" y="4636228"/>
            <a:ext cx="9370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Tuy hiệu quả và nhẹ trên CPU, Haar Cascade vẫn kém bền vững hơn các detector hiện đại khi pose, illumination và occlusion thay đổi mạnh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966</Words>
  <Application>Microsoft Office PowerPoint</Application>
  <PresentationFormat>Widescreen</PresentationFormat>
  <Paragraphs>112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Minh Tran</cp:lastModifiedBy>
  <cp:revision>3</cp:revision>
  <dcterms:created xsi:type="dcterms:W3CDTF">2013-01-27T09:14:16Z</dcterms:created>
  <dcterms:modified xsi:type="dcterms:W3CDTF">2026-03-24T15:33:39Z</dcterms:modified>
  <cp:category/>
</cp:coreProperties>
</file>